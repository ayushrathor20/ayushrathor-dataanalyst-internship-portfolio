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ApexPlanet • Data Analytics Internship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4 • Data Storytelling &amp; Statistical Validation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4892040"/>
            <a:ext cx="3657600" cy="1828800"/>
          </a:xfrm>
          <a:prstGeom prst="arc">
            <a:avLst/>
          </a:prstGeom>
          <a:noFill/>
          <a:ln w="254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731520"/>
            <a:ext cx="4114800" cy="2743200"/>
          </a:xfrm>
          <a:prstGeom prst="arc">
            <a:avLst/>
          </a:prstGeom>
          <a:noFill/>
          <a:ln w="2540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008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67665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APEXPLANET INTERNSHIP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TASK 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 Storytelling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Statistical Validation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21792" y="336499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3FF"/>
                </a:solidFill>
              </a:rPr>
              <a:t>From cleaned data → business intelligence → customer deep-dive → statistically validated insight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75320" y="1005840"/>
            <a:ext cx="3063240" cy="434340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1280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BUSINESS STORY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49640" y="1783080"/>
            <a:ext cx="2560320" cy="713232"/>
          </a:xfrm>
          <a:prstGeom prst="roundRect">
            <a:avLst>
              <a:gd name="adj" fmla="val 20513"/>
            </a:avLst>
          </a:prstGeom>
          <a:solidFill>
            <a:srgbClr val="F8FAFC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0" y="189280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52560" y="18562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Clean &amp; validate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21122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Task 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549640" y="2651760"/>
            <a:ext cx="2560320" cy="713232"/>
          </a:xfrm>
          <a:prstGeom prst="roundRect">
            <a:avLst>
              <a:gd name="adj" fmla="val 20513"/>
            </a:avLst>
          </a:prstGeom>
          <a:solidFill>
            <a:srgbClr val="F8FAFC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76148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02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52560" y="27249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Discover patterns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52560" y="29809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Task 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549640" y="3520440"/>
            <a:ext cx="2560320" cy="713232"/>
          </a:xfrm>
          <a:prstGeom prst="roundRect">
            <a:avLst>
              <a:gd name="adj" fmla="val 20513"/>
            </a:avLst>
          </a:prstGeom>
          <a:solidFill>
            <a:srgbClr val="F8FAFC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0" y="363016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52560" y="35935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Deep-dive customers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52560" y="384962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Task 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549640" y="4389120"/>
            <a:ext cx="2560320" cy="713232"/>
          </a:xfrm>
          <a:prstGeom prst="roundRect">
            <a:avLst>
              <a:gd name="adj" fmla="val 20513"/>
            </a:avLst>
          </a:prstGeom>
          <a:solidFill>
            <a:srgbClr val="F8FAFC"/>
          </a:solidFill>
          <a:ln w="12700">
            <a:solidFill>
              <a:srgbClr val="E5EA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0" y="449884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52560" y="44622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Validate a hypothesis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52560" y="471830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Task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7E8"/>
                </a:solidFill>
              </a:rPr>
              <a:t>Prepared by Ayush Rathor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01 • 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One sales story, one validated decision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dataset shows a large revenue engine with a clear customer-retention opportunity—and a statistical test helps separate signal from noise.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10312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210312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₹13.94 Cr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34640" y="1783080"/>
            <a:ext cx="210312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1783080"/>
            <a:ext cx="210312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Orders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99232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992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20640" y="1783080"/>
            <a:ext cx="210312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1783080"/>
            <a:ext cx="210312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Customers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85232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947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406640" y="1783080"/>
            <a:ext cx="210312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1783080"/>
            <a:ext cx="21031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AOV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71232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₹1,40,524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692640" y="1783080"/>
            <a:ext cx="210312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92640" y="1783080"/>
            <a:ext cx="210312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57232" y="19659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Units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857232" y="22128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5,435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544068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310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Three signals that frame the story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" y="3749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3739896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Electronics drives scale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39776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₹50.78M revenue; ~36% of total sales.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" y="44622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02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34440" y="4453128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Retention is the pressure point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469087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business-rule segmentation places 461 / 947 customers in the At Risk group.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" y="51755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34440" y="5166360"/>
            <a:ext cx="4160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Gender difference is not statistically significant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234440" y="540410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Welch t-test on customer revenue: p = 0.654.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3063240"/>
            <a:ext cx="5349240" cy="2651760"/>
          </a:xfrm>
          <a:prstGeom prst="roundRect">
            <a:avLst>
              <a:gd name="adj" fmla="val 5517"/>
            </a:avLst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33101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The decision lens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583680" y="3749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Protect high-value revenue while moving more recent customers into repeat behavior.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Use statistical validation to avoid over-interpreting demographic differences.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6583680" y="507492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511149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RETENTION + TEST &amp; LEARN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02 • TASK 1 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Task 1: Clean data before telling the story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final analysis starts from a validated, analysis-ready dataset.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7784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6" name="Image 0" descr="/mnt/data/task4_assets/snapshot_tas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56232"/>
            <a:ext cx="5431536" cy="40142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1783080"/>
            <a:ext cx="521208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What changed the analysis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20840" y="25603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Missingness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38160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20 ages imputed with median 41.0; 13 missing cities labeled Unknown.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20840" y="3291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Integrity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38160" y="3291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 duplicates and 0 Total_Sales validation mismatches.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20840" y="40233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138160" y="4023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Year, Month and Month_Name added for trend analysis.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20840" y="47548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Outliers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38160" y="47548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19 high Total_Sales IQR flags retained after review because they may be legitimate high-value orders.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20840" y="5413248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93992" y="5449824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ANALYSIS-READY BASE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03 • TASK 2 EDA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Task 2: From description to business pattern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EDA translated the cleaned table into clear sales, product and time patterns.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5486400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6" name="Image 0" descr="/mnt/data/task4_assets/category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28800"/>
            <a:ext cx="5340096" cy="22768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72200" y="1755648"/>
            <a:ext cx="5440680" cy="242316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8" name="Image 1" descr="/mnt/data/task4_assets/monthly_reven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828800"/>
            <a:ext cx="5294376" cy="22768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4407408"/>
            <a:ext cx="11064240" cy="155448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Headline findings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2240280" y="459028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• Electronics leads the category mix at ₹50.78M.    • Laptop leads products at ₹25.44M.    • March peaks at ₹13.06M; September is the low month at ₹9.18M.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68680" y="532180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41832" y="535838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DESCRIPTIVE → ACTIONABLE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04 • TASK 2 EVIDENCE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SQL business questions made the analysis decision-ready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SQL layer answered specific business questions using filtering, aggregation and JOIN logic.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62356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6" name="Image 0" descr="/mnt/data/task4_assets/snapshot_tas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56232"/>
            <a:ext cx="5477256" cy="40142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46520" y="1783080"/>
            <a:ext cx="5166360" cy="4160520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2057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questions answered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66560" y="26517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14032" y="26151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Total revenue generated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66560" y="318211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14032" y="31455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Revenue by category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66560" y="371246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14032" y="3675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Top 10 products by revenue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766560" y="42428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14032" y="4206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Monthly revenue trend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66560" y="47731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14032" y="4736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Top customers by revenue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20840" y="534924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93992" y="538581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 → EVIDENCE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05 • TASK 3 INTEGRATION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Task 3: Turn analysis into an interactive business 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dashboard brings KPIs, category trends and customer segmentation into one decision surface.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19072"/>
            <a:ext cx="731520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6" name="Image 0" descr="/mnt/data/task4_assets/snapsho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92224"/>
            <a:ext cx="7168896" cy="43342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38160" y="1719072"/>
            <a:ext cx="3474720" cy="44805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Dashboard contract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0" y="2514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KPIs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326880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Revenue, Orders, Customers, AOV, Units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412480" y="3108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Trend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326880" y="31089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Jan–Dec monthly revenue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412480" y="37033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Product view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326880" y="3703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 ranking by product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412480" y="4297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Customer view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326880" y="42976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Segment mix + segment revenue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41248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Filters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326880" y="4892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Category, City, Customer Segment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412480" y="544068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85632" y="5477256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INTERACTIVE BI LAYER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06 • DEEP-DIVE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Customer segmentation: where retention risk becomes visible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Business-rule based segments convert raw customer history into an interpretable retention lens.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3703320" cy="4343400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6" name="Image 0" descr="/mnt/data/task4_assets/segmen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28800"/>
            <a:ext cx="3557016" cy="4197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80560" y="1755648"/>
            <a:ext cx="3703320" cy="4343400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8" name="Image 1" descr="/mnt/data/task4_assets/segment_reven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1828800"/>
            <a:ext cx="3557016" cy="419709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412480" y="1755648"/>
            <a:ext cx="3200400" cy="4343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68680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Segment mix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686800" y="254203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Segment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9784080" y="254203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Customers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561320" y="2542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Share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82528" y="2542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Revenue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8659368" y="2834640"/>
            <a:ext cx="54864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778240" y="28620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At Risk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9784080" y="28620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461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515600" y="28620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48.7%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064240" y="286207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₹64.10M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8659368" y="3364992"/>
            <a:ext cx="54864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778240" y="3392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New / Recent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9784080" y="33924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229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515600" y="33924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24.2%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064240" y="339242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₹33.48M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8659368" y="3895344"/>
            <a:ext cx="54864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778240" y="39227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Regular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9784080" y="39227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217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0515600" y="39227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22.9%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064240" y="39227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₹27.15M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8659368" y="4425696"/>
            <a:ext cx="54864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778240" y="44531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High Value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9784080" y="4453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24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0515600" y="44531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2.5%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11064240" y="44531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₹11.41M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8659368" y="4956048"/>
            <a:ext cx="54864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778240" y="49834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Loyal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9784080" y="49834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16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0515600" y="49834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1.7%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1064240" y="49834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₹3.27M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8686800" y="5440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Interpretation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8686800" y="56692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largest segment is At Risk; retention, reactivation and repeat-purchase programs should be prioritized before assuming customer growth alone will solve the revenue challenge.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07 • DATA STORY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The business narrative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Four questions turn the analysis into a stakeholder-ready story.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7280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9019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How healthy is the engine?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0" y="190195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₹139.4M revenue across 992 orders; AOV ₹140.5K.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966960" y="192024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40112" y="1956816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Start with scale.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907792"/>
            <a:ext cx="1097280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90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17320" y="307238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Where does growth come from?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307238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Electronics is the largest category; Laptop leads products.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966960" y="309067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40112" y="3127248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Concentrate what is working.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4078224"/>
            <a:ext cx="1097280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61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03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24281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Where is the customer risk?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0" y="4242816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461 customers fall into the At Risk segment under the defined rules.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966960" y="4261104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40112" y="4297680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Retention becomes the next lever.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5248656"/>
            <a:ext cx="1097280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431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17320" y="54132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Which assumptions need validation?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541324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Customer-level gender revenue difference is not statistically significant.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966960" y="5431536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40112" y="5468112"/>
            <a:ext cx="1179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 not over-index on weak signals.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08 • HYPOTHESIS TESTING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A clean test: do customer-level revenues differ by gender?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To avoid weighting repeat purchasers multiple times, the test uses one revenue total per unique customer.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57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Test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H₀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2606040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Mean customer revenue is equal across genders.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31729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H₁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31729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Mean customer revenue differs across genders.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739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3739896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0.05 significance level.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43068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Test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4306824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Welch independent two-sample t-test.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873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Unit of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48737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Unique customer (n = 947 total).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1783080"/>
            <a:ext cx="5257800" cy="4297680"/>
          </a:xfrm>
          <a:prstGeom prst="roundRect">
            <a:avLst>
              <a:gd name="adj" fmla="val 3404"/>
            </a:avLst>
          </a:prstGeom>
          <a:solidFill>
            <a:srgbClr val="EEF4FF"/>
          </a:solidFill>
          <a:ln w="12700">
            <a:solidFill>
              <a:srgbClr val="CFD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Why this is business-relevant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2651760"/>
            <a:ext cx="4343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Tests whether a visible demographic difference is large enough to distinguish from sampling variability.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Keeps the analysis aligned with the business question: customer value, not transaction count.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• Produces both a p-value and a confidence interval for decision context.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75120" y="51663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5202936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STATISTICAL RIGOR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09 • STATISTICAL 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The observed gap is not statistically significant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At the 5% level, the data do not provide enough evidence to conclude that mean customer revenue differs by gender.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6766560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pic>
        <p:nvPicPr>
          <p:cNvPr id="6" name="Image 0" descr="/mnt/data/task4_assets/hypothesis_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28800"/>
            <a:ext cx="6620256" cy="28254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755648"/>
            <a:ext cx="4069080" cy="2971800"/>
          </a:xfrm>
          <a:prstGeom prst="roundRect">
            <a:avLst>
              <a:gd name="adj" fmla="val 4923"/>
            </a:avLst>
          </a:prstGeom>
          <a:solidFill>
            <a:srgbClr val="172554"/>
          </a:solidFill>
          <a:ln w="12700">
            <a:solidFill>
              <a:srgbClr val="17255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9DC6FF"/>
                </a:solidFill>
              </a:rPr>
              <a:t>RESULTS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0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 = 0.6541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863840" y="3063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95% CI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[−₹19,545, ₹12,276]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149840" y="2834640"/>
            <a:ext cx="1143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7E3FF"/>
                </a:solidFill>
              </a:rPr>
              <a:t>Mean revenue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3FF"/>
                </a:solidFill>
              </a:rPr>
              <a:t>Female: ₹145,336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7E3FF"/>
                </a:solidFill>
              </a:rPr>
              <a:t>Male: ₹148,970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52669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Business interpretation: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423160" y="523036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The observed difference is small relative to customer-to-customer variability. Treat gender as a monitoring dimension—not as a strong causal or targeting signal from this dataset alone.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10 • CALL TO ACTION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Move from insight to action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25296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The story ends with business actions that are measurable and testable.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9728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892808"/>
            <a:ext cx="420624" cy="420624"/>
          </a:xfrm>
          <a:prstGeom prst="roundRect">
            <a:avLst>
              <a:gd name="adj" fmla="val 4782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19659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8928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Protect the 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8653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Prioritize Electronics/Laptop availability, pricing and merchandising.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19202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Weekly category/product KPI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728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852928"/>
            <a:ext cx="420624" cy="420624"/>
          </a:xfrm>
          <a:prstGeom prst="roundRect">
            <a:avLst>
              <a:gd name="adj" fmla="val 4782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9264" y="29260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63040" y="2852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Reactivate at-risk customers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825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Build win-back campaigns and measure repeat order rate.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03920" y="28803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Segment-level retention KPI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728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813048"/>
            <a:ext cx="420624" cy="420624"/>
          </a:xfrm>
          <a:prstGeom prst="roundRect">
            <a:avLst>
              <a:gd name="adj" fmla="val 47826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9264" y="388620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38130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Convert recent customers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7856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Push second-purchase journeys and cross-sell.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384048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30/60/90-day repeat rate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109728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4773168"/>
            <a:ext cx="420624" cy="420624"/>
          </a:xfrm>
          <a:prstGeom prst="roundRect">
            <a:avLst>
              <a:gd name="adj" fmla="val 4782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48463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63040" y="4773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Protect high-value customers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47457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Create VIP journeys, service priority and retention offers.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480060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High-value retention / revenue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577840"/>
            <a:ext cx="10972800" cy="82296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" y="5733288"/>
            <a:ext cx="420624" cy="420624"/>
          </a:xfrm>
          <a:prstGeom prst="roundRect">
            <a:avLst>
              <a:gd name="adj" fmla="val 4782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" y="58064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463040" y="57332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Test, don’t assume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57058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 A/B tests before scaling demographic or promotional hypotheses.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5760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Lift + confidence interval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25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The final story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Clean data created trust.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EDA revealed the pattern.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Customer segmentation found the pressure point.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Statistical testing kept the conclusion honest.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909560" y="914400"/>
            <a:ext cx="3566160" cy="33832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2344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2563EB"/>
                </a:solidFill>
              </a:rPr>
              <a:t>FINAL SNAPSHOT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366760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₹139.4M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829800" y="174650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366760" y="24048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947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829800" y="24597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366760" y="31181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461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29800" y="317296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 Risk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66760" y="38313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0.654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829800" y="38862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p-value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16052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4197096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CALL TO ACTION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4572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E7FF"/>
                </a:solidFill>
              </a:rPr>
              <a:t>Use the dashboard to find the signal.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DCE7FF"/>
                </a:solidFill>
              </a:rPr>
              <a:t>Use statistical tests before scaling the decision.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" y="59893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E8"/>
                </a:solidFill>
              </a:rPr>
              <a:t>Prepared for ApexPlanet Software Pvt Ltd • Data Analytics Internship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ApexPlanet Software Pvt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Storytelling &amp; Statistical Validation</dc:title>
  <dc:subject>ApexPlanet Data Analytics Internship - Task 4</dc:subject>
  <dc:creator>Ayush Rathor</dc:creator>
  <cp:lastModifiedBy>Ayush Rathor</cp:lastModifiedBy>
  <cp:revision>1</cp:revision>
  <dcterms:created xsi:type="dcterms:W3CDTF">2026-10-02T14:38:29Z</dcterms:created>
  <dcterms:modified xsi:type="dcterms:W3CDTF">2026-10-02T14:38:29Z</dcterms:modified>
</cp:coreProperties>
</file>