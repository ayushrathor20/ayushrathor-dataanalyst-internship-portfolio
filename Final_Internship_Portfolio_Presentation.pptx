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6D"/>
          </a:solidFill>
          <a:ln w="12700">
            <a:solidFill>
              <a:srgbClr val="123B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APEXPLANET • DATA ANALYTICS INTERNSHIP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149840" y="6510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Ayush Rathor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30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</a:rPr>
              <a:t>APEXPLANET SOFTWARE PVT LTD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DATA ANALYTICS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INTERNSHIP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7D2FE"/>
                </a:solidFill>
              </a:rPr>
              <a:t>Final Portfolio • Tasks 1–4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From data quality and exploratory analysis to business intelligence, deep-dive segmentation, and statistical validation.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60920" y="1097280"/>
            <a:ext cx="1965960" cy="1115568"/>
          </a:xfrm>
          <a:prstGeom prst="roundRect">
            <a:avLst>
              <a:gd name="adj" fmla="val 65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25512" y="123444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REVENUE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25512" y="1499616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₹13.94 Cr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525512" y="1975104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F2FF"/>
                </a:solidFill>
              </a:rPr>
              <a:t>Total sales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464040" y="1097280"/>
            <a:ext cx="1965960" cy="1115568"/>
          </a:xfrm>
          <a:prstGeom prst="roundRect">
            <a:avLst>
              <a:gd name="adj" fmla="val 655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8632" y="123444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28632" y="1499616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992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28632" y="1975104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F2FF"/>
                </a:solidFill>
              </a:rPr>
              <a:t>Unique orders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60920" y="2450592"/>
            <a:ext cx="1965960" cy="1115568"/>
          </a:xfrm>
          <a:prstGeom prst="roundRect">
            <a:avLst>
              <a:gd name="adj" fmla="val 65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25512" y="2587752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25512" y="2852928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947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25512" y="3328416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F2FF"/>
                </a:solidFill>
              </a:rPr>
              <a:t>Unique customers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464040" y="2450592"/>
            <a:ext cx="1965960" cy="1115568"/>
          </a:xfrm>
          <a:prstGeom prst="roundRect">
            <a:avLst>
              <a:gd name="adj" fmla="val 65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28632" y="2587752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28632" y="2852928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5,435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628632" y="3328416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F2FF"/>
                </a:solidFill>
              </a:rPr>
              <a:t>Units sold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8368" y="4251960"/>
            <a:ext cx="10835640" cy="0"/>
          </a:xfrm>
          <a:prstGeom prst="line">
            <a:avLst/>
          </a:prstGeom>
          <a:noFill/>
          <a:ln w="16510">
            <a:solidFill>
              <a:srgbClr val="334E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617720"/>
            <a:ext cx="2468880" cy="1005840"/>
          </a:xfrm>
          <a:prstGeom prst="roundRect">
            <a:avLst/>
          </a:prstGeom>
          <a:solidFill>
            <a:srgbClr val="123B6D"/>
          </a:solidFill>
          <a:ln w="12700">
            <a:solidFill>
              <a:srgbClr val="3A55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736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</a:rPr>
              <a:t>01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25296" y="4700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25296" y="5010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Python • Pandas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19856" y="4617720"/>
            <a:ext cx="2468880" cy="100584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3A55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57016" y="4736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</a:rPr>
              <a:t>02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86784" y="4700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86784" y="5010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EDA • SQL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81344" y="4617720"/>
            <a:ext cx="2468880" cy="1005840"/>
          </a:xfrm>
          <a:prstGeom prst="roundRect">
            <a:avLst/>
          </a:prstGeom>
          <a:solidFill>
            <a:srgbClr val="5B21B6"/>
          </a:solidFill>
          <a:ln w="12700">
            <a:solidFill>
              <a:srgbClr val="3A55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8504" y="4736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</a:rPr>
              <a:t>03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48272" y="4700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 DIVE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48272" y="5010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Power BI • DAX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942832" y="4617720"/>
            <a:ext cx="2468880" cy="1005840"/>
          </a:xfrm>
          <a:prstGeom prst="roundRect">
            <a:avLst/>
          </a:prstGeom>
          <a:solidFill>
            <a:srgbClr val="B45309"/>
          </a:solidFill>
          <a:ln w="12700">
            <a:solidFill>
              <a:srgbClr val="3A55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9992" y="4736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</a:rPr>
              <a:t>04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509760" y="47000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09760" y="5010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Statistics • Storytelling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8368" y="6062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AYUSH RATHOR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The internship journey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single end-to-end analytics workflow, built step by step.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7899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72184"/>
            <a:ext cx="621792" cy="6217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3677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508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Data Quality &amp; EDA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149047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Cleaned 1,000 sales records, validated fields, handled missing values, and explored distributions.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496312"/>
            <a:ext cx="107899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642616"/>
            <a:ext cx="621792" cy="621792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8072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2679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Business Intelligence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660904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Answered business questions with SQL and translated results into a decision-ready sales dashboard.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666744"/>
            <a:ext cx="107899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813048"/>
            <a:ext cx="621792" cy="62179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9776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849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Deep-Dive &amp; Interactive BI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831336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Defined core KPIs and built customer segmentation with interactive Power BI analysis.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837176"/>
            <a:ext cx="107899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E5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983480"/>
            <a:ext cx="621792" cy="62179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51480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50200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Storytelling &amp; Validation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5001768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Synthesized findings into a business story and statistically tested a customer-revenue hypothesis.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920240" y="5870448"/>
            <a:ext cx="8321040" cy="5029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6025896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Outcome: a portfolio that connects analysis, business context, interaction, and statistical rigor.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Task 1 • Data quality &amp; wrangling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Cleaning first so every downstream insight is defensible.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325880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247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1</a:t>
            </a:r>
            <a:endParaRPr lang="en-US" sz="900" dirty="0"/>
          </a:p>
        </p:txBody>
      </p:sp>
      <p:pic>
        <p:nvPicPr>
          <p:cNvPr id="6" name="Image 0" descr="/mnt/data/task4_assets/snapshot_task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08760"/>
            <a:ext cx="667512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508760"/>
            <a:ext cx="38862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36992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What was delivered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36992" y="2221992"/>
            <a:ext cx="3182112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1,000 rows with 15 final columns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Missing Age values imputed with the median; missing City values set to “Unknown”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No duplicate rows detected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Total_Sales validated against Quantity × Unit_Price</a:t>
            </a:r>
            <a:endParaRPr lang="en-US" sz="1160" dirty="0"/>
          </a:p>
          <a:p>
            <a:pPr marL="203200" indent="-203200">
              <a:buSzPct val="100000"/>
              <a:buChar char="•"/>
            </a:pPr>
            <a:r>
              <a:rPr lang="en-US" sz="1160" dirty="0">
                <a:solidFill>
                  <a:srgbClr val="0F172A"/>
                </a:solidFill>
              </a:rPr>
              <a:t>IQR flags reviewed as plausible high-value orders rather than blindly removed</a:t>
            </a:r>
            <a:endParaRPr lang="en-US" sz="1160" dirty="0"/>
          </a:p>
        </p:txBody>
      </p:sp>
      <p:sp>
        <p:nvSpPr>
          <p:cNvPr id="10" name="Text 7"/>
          <p:cNvSpPr/>
          <p:nvPr/>
        </p:nvSpPr>
        <p:spPr>
          <a:xfrm>
            <a:off x="7936992" y="5212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Why it mattered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36992" y="55138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 reliable model starts with trusted data. Cleaning decisions were documented so later charts and statistics can be reproduced.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Task 2 • EDA &amp; business intelligence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From descriptive analysis to business-ready answers.</a:t>
            </a:r>
            <a:endParaRPr lang="en-US" sz="1050" dirty="0"/>
          </a:p>
        </p:txBody>
      </p:sp>
      <p:pic>
        <p:nvPicPr>
          <p:cNvPr id="4" name="Image 0" descr="/mnt/data/task4_assets/snapshot_tas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548640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417320"/>
            <a:ext cx="5074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20840" y="1700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Headline findings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20840" y="22402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83880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₹139.40M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720840" y="2898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Top category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83880" y="28986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Electronics • ₹50.78M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720840" y="3557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Top product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83880" y="35570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Laptop • ₹25.44M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720840" y="4215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Peak month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83880" y="42153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March • ₹13.06M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720840" y="4873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Top city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83880" y="48737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Patna • ₹19.29M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720840" y="5486400"/>
            <a:ext cx="4343400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5632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Business value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183880" y="55961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</a:rPr>
              <a:t>The workflow moved beyond “what happened?” to “what should the business pay attention to next?”.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Task 2 • Visual story of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compact view of the metrics that shaped the business narrative.</a:t>
            </a:r>
            <a:endParaRPr lang="en-US" sz="1050" dirty="0"/>
          </a:p>
        </p:txBody>
      </p:sp>
      <p:pic>
        <p:nvPicPr>
          <p:cNvPr id="4" name="Image 0" descr="/mnt/data/task4_assets/snapsho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25880"/>
            <a:ext cx="10881360" cy="5303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Task 3 • Deep-dive &amp; interactive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Customer segmentation turns broad sales reporting into targeted decisions.</a:t>
            </a:r>
            <a:endParaRPr lang="en-US" sz="1050" dirty="0"/>
          </a:p>
        </p:txBody>
      </p:sp>
      <p:pic>
        <p:nvPicPr>
          <p:cNvPr id="4" name="Image 0" descr="/mnt/data/fdabf869-2fba-437a-b22a-ca6e6b4f15f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54380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325880"/>
            <a:ext cx="32461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58200" y="1600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22792" y="17373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REVENUE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22792" y="2002536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₹13.94 Cr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9921240" y="1600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85832" y="17373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85832" y="2002536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992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458200" y="2743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22792" y="28803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22792" y="3145536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947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9921240" y="2743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85832" y="28803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AOV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085832" y="3145536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₹140.5K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458200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Segmentation logic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58200" y="4361688"/>
            <a:ext cx="25146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High Value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Loyal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At Risk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New / Recent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Regular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458200" y="58064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Interactive filters allow a stakeholder to slice by city and segment while keeping the same KPI logic.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Task 4 • Data storytelling &amp; statistical validation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Turning patterns into a business claim—and then testing the claim.</a:t>
            </a:r>
            <a:endParaRPr lang="en-US" sz="1050" dirty="0"/>
          </a:p>
        </p:txBody>
      </p:sp>
      <p:pic>
        <p:nvPicPr>
          <p:cNvPr id="4" name="Image 0" descr="/mnt/data/hypothesis_afte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7315200" cy="5166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65008" y="1325880"/>
            <a:ext cx="34290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39328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Hypothesis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39328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H₀: mean customer-level revenue is equal across genders.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339328" y="26974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0" y="283464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p-VALUE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03920" y="3099816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0.5235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503920" y="332841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F2FF"/>
                </a:solidFill>
              </a:rPr>
              <a:t>α = 0.05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9829800" y="26974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94392" y="283464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COHEN’S 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4392" y="3099816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−0.0415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994392" y="332841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F2FF"/>
                </a:solidFill>
              </a:rPr>
              <a:t>Tiny effect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339328" y="3840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95% confidence interval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339328" y="4160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−₹21,042.49 to ₹10,714.21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39328" y="4681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</a:rPr>
              <a:t>Conclusion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339328" y="5029200"/>
            <a:ext cx="2761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Fail to reject H₀. The sample does not provide sufficient statistical evidence of a gender-based difference in mean customer-level revenue.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What the portfolio demonstrates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blend of technical execution, analytical judgment, and communication.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057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0574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ANALYTICS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2331720"/>
            <a:ext cx="16459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Python &amp; Pandas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EDA &amp; descriptive statistics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SQL business questions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0392" y="5230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Demonstrated across Tasks 1–4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11880" y="1417320"/>
            <a:ext cx="2057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417320"/>
            <a:ext cx="20574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BI &amp; DASHBOARDS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13048" y="2331720"/>
            <a:ext cx="16459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Power BI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DAX &amp; Power Query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Interactive filters &amp; KPIs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76472" y="5230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Demonstrated across Tasks 1–4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7960" y="1417320"/>
            <a:ext cx="2057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1417320"/>
            <a:ext cx="20574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2552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STATISTICS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39128" y="2331720"/>
            <a:ext cx="16459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Hypothesis formulation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Welch t-test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Confidence intervals &amp; effect size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02552" y="5230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Demonstrated across Tasks 1–4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464040" y="1417320"/>
            <a:ext cx="2057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64040" y="1417320"/>
            <a:ext cx="20574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28632" y="1755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COMMUNICATION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65208" y="2331720"/>
            <a:ext cx="16459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Business storytelling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Presentation design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Actionable recommendations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28632" y="52303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Demonstrated across Tasks 1–4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417320" y="610819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Core principle: every technical step should strengthen the business decision—not just the chart.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Final reflection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What changed from the first notebook to the final portfolio.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972800" cy="12344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DD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 • From cleaning to confidence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51960" y="16093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I learned to document data-quality choices so downstream KPIs, dashboards, and tests remain reproducible.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10972800" cy="1234440"/>
          </a:xfrm>
          <a:prstGeom prst="roundRect">
            <a:avLst/>
          </a:prstGeom>
          <a:solidFill>
            <a:srgbClr val="E8FBF7"/>
          </a:solidFill>
          <a:ln w="12700">
            <a:solidFill>
              <a:srgbClr val="BDE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998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2 • From charts to decisions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51960" y="30449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The strongest analyses connect a pattern to a business question, a stakeholder action, and a measurable outcome.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4288536"/>
            <a:ext cx="10972800" cy="1234440"/>
          </a:xfrm>
          <a:prstGeom prst="roundRect">
            <a:avLst/>
          </a:prstGeom>
          <a:solidFill>
            <a:srgbClr val="FFF5DD"/>
          </a:solidFill>
          <a:ln w="12700">
            <a:solidFill>
              <a:srgbClr val="F6D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535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</a:rPr>
              <a:t>3 • From assumption to evidence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448970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Statistical validation adds rigor: a visible difference is not automatically a meaningful difference.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783080" y="5833872"/>
            <a:ext cx="8641080" cy="4572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5971032"/>
            <a:ext cx="8275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Next step: publish the master portfolio and continue building decision-ready analytics.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14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THANK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DD3FC"/>
                </a:solidFill>
              </a:rPr>
              <a:t>AYUSH RATHOR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Data Analytics Internship • ApexPlanet Software Pvt Ltd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10698480" cy="0"/>
          </a:xfrm>
          <a:prstGeom prst="line">
            <a:avLst/>
          </a:prstGeom>
          <a:noFill/>
          <a:ln w="15240">
            <a:solidFill>
              <a:srgbClr val="334E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71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Portfolio repository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27355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</a:rPr>
              <a:t>github.com/ayushrathor20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907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Built around one principle: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3273552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→ Insight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Insight → Decision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→ Impact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9224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Thank you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ApexPlanet Software Pvt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ApexPlanet Data Analytics Internship — Final Portfolio</dc:title>
  <dc:subject>ApexPlanet Data Analytics Internship Portfolio</dc:subject>
  <dc:creator>Ayush Rathor</dc:creator>
  <cp:lastModifiedBy>Ayush Rathor</cp:lastModifiedBy>
  <cp:revision>1</cp:revision>
  <dcterms:created xsi:type="dcterms:W3CDTF">2026-10-07T10:23:05Z</dcterms:created>
  <dcterms:modified xsi:type="dcterms:W3CDTF">2026-10-07T10:23:05Z</dcterms:modified>
</cp:coreProperties>
</file>